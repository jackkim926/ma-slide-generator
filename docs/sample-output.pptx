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L1" Type="http://schemas.openxmlformats.org/officeDocument/2006/relationships/hyperlink" Target="https://www.adage.com/" TargetMode="External"/><Relationship Id="rIdL2" Type="http://schemas.openxmlformats.org/officeDocument/2006/relationships/hyperlink" Target="https://www.campaignlive.com/" TargetMode="External"/><Relationship Id="rIdL3" Type="http://schemas.openxmlformats.org/officeDocument/2006/relationships/hyperlink" Target="https://www.mumbrella.com.a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72238"/>
            <a:ext cx="12191970" cy="288036"/>
          </a:xfrm>
          <a:prstGeom prst="rect">
            <a:avLst/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TB102"/>
          <p:cNvSpPr txBox="1"/>
          <p:nvPr/>
        </p:nvSpPr>
        <p:spPr>
          <a:xfrm>
            <a:off x="256032" y="91440"/>
            <a:ext cx="4754880" cy="2468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r>
              <a:rPr lang="ko-KR" altLang="en-US" sz="1000" spc="-7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프리젠테이션 5 Medium"/>
              </a:rPr>
              <a:t>'26년 상반기 인수 사례 분석</a:t>
            </a:r>
          </a:p>
        </p:txBody>
      </p:sp>
      <p:sp>
        <p:nvSpPr>
          <p:cNvPr id="103" name="TB103"/>
          <p:cNvSpPr txBox="1"/>
          <p:nvPr/>
        </p:nvSpPr>
        <p:spPr>
          <a:xfrm>
            <a:off x="5760720" y="91440"/>
            <a:ext cx="3474720" cy="2468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r>
              <a:rPr lang="ko-KR" altLang="en-US" sz="1000" spc="-7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프리젠테이션 5 Medium"/>
              </a:rPr>
              <a:t>Omnicom</a:t>
            </a:r>
          </a:p>
        </p:txBody>
      </p:sp>
      <p:sp>
        <p:nvSpPr>
          <p:cNvPr id="104" name="R104"/>
          <p:cNvSpPr/>
          <p:nvPr/>
        </p:nvSpPr>
        <p:spPr>
          <a:xfrm>
            <a:off x="9540850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105"/>
          <p:cNvSpPr/>
          <p:nvPr/>
        </p:nvSpPr>
        <p:spPr>
          <a:xfrm>
            <a:off x="9693280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106"/>
          <p:cNvSpPr/>
          <p:nvPr/>
        </p:nvSpPr>
        <p:spPr>
          <a:xfrm>
            <a:off x="9845711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107"/>
          <p:cNvSpPr/>
          <p:nvPr/>
        </p:nvSpPr>
        <p:spPr>
          <a:xfrm>
            <a:off x="9998141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108"/>
          <p:cNvSpPr/>
          <p:nvPr/>
        </p:nvSpPr>
        <p:spPr>
          <a:xfrm>
            <a:off x="10150572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109"/>
          <p:cNvSpPr/>
          <p:nvPr/>
        </p:nvSpPr>
        <p:spPr>
          <a:xfrm>
            <a:off x="10303002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110"/>
          <p:cNvSpPr/>
          <p:nvPr/>
        </p:nvSpPr>
        <p:spPr>
          <a:xfrm>
            <a:off x="10455432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111"/>
          <p:cNvSpPr/>
          <p:nvPr/>
        </p:nvSpPr>
        <p:spPr>
          <a:xfrm>
            <a:off x="10607863" y="281635"/>
            <a:ext cx="72238" cy="288036"/>
          </a:xfrm>
          <a:prstGeom prst="roundRect">
            <a:avLst>
              <a:gd name="adj" fmla="val 20000"/>
            </a:avLst>
          </a:prstGeom>
          <a:solidFill>
            <a:srgbClr val="E270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B112"/>
          <p:cNvSpPr txBox="1"/>
          <p:nvPr/>
        </p:nvSpPr>
        <p:spPr>
          <a:xfrm>
            <a:off x="612648" y="356616"/>
            <a:ext cx="1920240" cy="4572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r>
              <a:rPr lang="ko-KR" altLang="en-US" sz="2400" spc="-70" dirty="0"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인수 사례 분석</a:t>
            </a:r>
          </a:p>
        </p:txBody>
      </p:sp>
      <p:sp>
        <p:nvSpPr>
          <p:cNvPr id="113" name="TB113"/>
          <p:cNvSpPr txBox="1"/>
          <p:nvPr/>
        </p:nvSpPr>
        <p:spPr>
          <a:xfrm>
            <a:off x="2148840" y="448056"/>
            <a:ext cx="5120640" cy="365760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r>
              <a:rPr lang="ko-KR" altLang="en-US" sz="1800" spc="-70" dirty="0"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Omnicom – CX Lavender</a:t>
            </a:r>
          </a:p>
        </p:txBody>
      </p:sp>
      <p:sp>
        <p:nvSpPr>
          <p:cNvPr id="114" name="TB114"/>
          <p:cNvSpPr txBox="1"/>
          <p:nvPr/>
        </p:nvSpPr>
        <p:spPr>
          <a:xfrm>
            <a:off x="7406640" y="548640"/>
            <a:ext cx="4178808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ko-KR" altLang="en-US" sz="1000" spc="-70" dirty="0">
                <a:solidFill>
                  <a:srgbClr val="E27041"/>
                </a:solidFill>
                <a:latin typeface="프리젠테이션 6 SemiBold" pitchFamily="2" charset="-127"/>
                <a:ea typeface="프리젠테이션 6 SemiBold" pitchFamily="2" charset="-127"/>
                <a:cs typeface="프리젠테이션 6 SemiBold"/>
              </a:rPr>
              <a:t>'24.12月 IPG 합병 발표 이후 첫 번째 볼트온 인수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612648" y="1051560"/>
            <a:ext cx="10881360" cy="4754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ko-KR" altLang="en-US" sz="2400" spc="-70" dirty="0"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호주 CX 에이전시 'CX Lavender' 인수로 오세아니아 고객 경험 실행 역량 확보 </a:t>
            </a:r>
            <a:r>
              <a:rPr lang="ko-KR" altLang="en-US" sz="1440" spc="-70" baseline="3000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[1]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612648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ko-KR" altLang="en-US" sz="1800" spc="-7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미디어·크리에이티브 중심 조직에 End-to-End 고객 트랜스포메이션 및 로열티 운영 기능 결합 </a:t>
            </a:r>
            <a:r>
              <a:rPr lang="ko-KR" altLang="en-US" sz="1080" spc="-70" baseline="3000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[2]</a:t>
            </a:r>
          </a:p>
        </p:txBody>
      </p:sp>
      <p:sp>
        <p:nvSpPr>
          <p:cNvPr id="117" name="TB117"/>
          <p:cNvSpPr txBox="1"/>
          <p:nvPr/>
        </p:nvSpPr>
        <p:spPr>
          <a:xfrm>
            <a:off x="612648" y="1892808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r>
              <a:rPr lang="ko-KR" altLang="en-US" sz="1400" spc="-70" dirty="0">
                <a:solidFill>
                  <a:srgbClr val="E27041"/>
                </a:solidFill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▶ </a:t>
            </a:r>
            <a:r>
              <a:rPr lang="ko-KR" altLang="en-US" sz="1400" spc="-70" dirty="0"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Overview</a:t>
            </a:r>
          </a:p>
        </p:txBody>
      </p:sp>
      <p:graphicFrame>
        <p:nvGraphicFramePr>
          <p:cNvPr id="118" name="TBL118"/>
          <p:cNvGraphicFramePr>
            <a:graphicFrameLocks noGrp="1"/>
          </p:cNvGraphicFramePr>
          <p:nvPr/>
        </p:nvGraphicFramePr>
        <p:xfrm>
          <a:off x="612648" y="2194560"/>
          <a:ext cx="4892040" cy="1810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98448"/>
                <a:gridCol w="3593592"/>
              </a:tblGrid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소재지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호주 시드니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[1]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설립 / 인원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1997년 설립, 임직원 20명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[1]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리더십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Ryan Stubna (CCO), KaLing Ng (Client Services Director)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[2]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주요 서비스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CX 전략, 로열티 프로그램, 디지털 플랫폼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[1]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주요 광고주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Westpac(호주 상업은행), Audi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[1]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9" name="TB119"/>
          <p:cNvSpPr txBox="1"/>
          <p:nvPr/>
        </p:nvSpPr>
        <p:spPr>
          <a:xfrm>
            <a:off x="5678424" y="1892808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r>
              <a:rPr lang="ko-KR" altLang="en-US" sz="1400" spc="-70" dirty="0">
                <a:solidFill>
                  <a:srgbClr val="E27041"/>
                </a:solidFill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▶ </a:t>
            </a:r>
            <a:r>
              <a:rPr lang="ko-KR" altLang="en-US" sz="1400" spc="-70" dirty="0"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Strategic Rationale</a:t>
            </a:r>
          </a:p>
        </p:txBody>
      </p:sp>
      <p:graphicFrame>
        <p:nvGraphicFramePr>
          <p:cNvPr id="120" name="TBL120"/>
          <p:cNvGraphicFramePr>
            <a:graphicFrameLocks noGrp="1"/>
          </p:cNvGraphicFramePr>
          <p:nvPr/>
        </p:nvGraphicFramePr>
        <p:xfrm>
          <a:off x="5678424" y="2194560"/>
          <a:ext cx="5907024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489704"/>
              </a:tblGrid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시장 배경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호주 CX·로열티 투자 확대, 미디어 수수료는 압박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[2]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역량 갭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미디어·크리에이티브 편중, CX 실행 조직 부재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[2]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포트폴리오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'22년 美 TA Digital에 이은 두 번째 CX 자산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[3]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경쟁 대응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Accenture Song·Publicis Sapient 공세에 방어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[3]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수익 구조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프로젝트 매출을 리테이너 로열티 운영으로 전환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[2]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1" name="TB121"/>
          <p:cNvSpPr txBox="1"/>
          <p:nvPr/>
        </p:nvSpPr>
        <p:spPr>
          <a:xfrm>
            <a:off x="612648" y="4224528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r>
              <a:rPr lang="ko-KR" altLang="en-US" sz="1400" spc="-70" dirty="0">
                <a:solidFill>
                  <a:srgbClr val="E27041"/>
                </a:solidFill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▶ </a:t>
            </a:r>
            <a:r>
              <a:rPr lang="ko-KR" altLang="en-US" sz="1400" spc="-70" dirty="0"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Deal Snapshot</a:t>
            </a:r>
          </a:p>
        </p:txBody>
      </p:sp>
      <p:graphicFrame>
        <p:nvGraphicFramePr>
          <p:cNvPr id="122" name="TBL122"/>
          <p:cNvGraphicFramePr>
            <a:graphicFrameLocks noGrp="1"/>
          </p:cNvGraphicFramePr>
          <p:nvPr/>
        </p:nvGraphicFramePr>
        <p:xfrm>
          <a:off x="612648" y="4526280"/>
          <a:ext cx="4892040" cy="1316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98448"/>
                <a:gridCol w="3593592"/>
              </a:tblGrid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발표 시점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'26.6月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[1]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거래 구조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지분 100% 인수, Omnicom Oceania 편입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[1]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인수 대가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미공개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[1]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70" dirty="0">
                          <a:solidFill>
                            <a:srgbClr val="FFFFFF"/>
                          </a:solidFill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리더십 승계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pc="-70" dirty="0">
                          <a:latin typeface="프리젠테이션 6 SemiBold" pitchFamily="2" charset="-127"/>
                          <a:ea typeface="프리젠테이션 6 SemiBold" pitchFamily="2" charset="-127"/>
                          <a:cs typeface="프리젠테이션 6 SemiBold"/>
                        </a:rPr>
                        <a:t>창업 CEO 퇴사, 실무 리더 2인 잔류 </a:t>
                      </a:r>
                      <a:r>
                        <a:rPr lang="ko-KR" altLang="en-US" sz="720" spc="-70" baseline="30000" dirty="0">
                          <a:solidFill>
                            <a:srgbClr val="E2704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프리젠테이션 7 Bold"/>
                        </a:rPr>
                        <a:t>[2]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3" name="TB123"/>
          <p:cNvSpPr txBox="1"/>
          <p:nvPr/>
        </p:nvSpPr>
        <p:spPr>
          <a:xfrm>
            <a:off x="5678424" y="405993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r>
              <a:rPr lang="ko-KR" altLang="en-US" sz="1400" spc="-70" dirty="0">
                <a:solidFill>
                  <a:srgbClr val="E27041"/>
                </a:solidFill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▶ </a:t>
            </a:r>
            <a:r>
              <a:rPr lang="ko-KR" altLang="en-US" sz="1400" spc="-70" dirty="0">
                <a:latin typeface="프리젠테이션 8 ExtraBold" pitchFamily="2" charset="-127"/>
                <a:ea typeface="프리젠테이션 8 ExtraBold" pitchFamily="2" charset="-127"/>
                <a:cs typeface="프리젠테이션 8 ExtraBold"/>
              </a:rPr>
              <a:t>Implication</a:t>
            </a:r>
          </a:p>
        </p:txBody>
      </p:sp>
      <p:sp>
        <p:nvSpPr>
          <p:cNvPr id="124" name="G124"/>
          <p:cNvSpPr/>
          <p:nvPr/>
        </p:nvSpPr>
        <p:spPr>
          <a:xfrm>
            <a:off x="5678424" y="4361688"/>
            <a:ext cx="5907024" cy="149961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85000">
                <a:srgbClr val="E7E6E6"/>
              </a:gs>
              <a:gs pos="100000">
                <a:srgbClr val="E7E6E6"/>
              </a:gs>
            </a:gsLst>
            <a:lin ang="16200000" scaled="1"/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125" name="TB125"/>
          <p:cNvSpPr txBox="1"/>
          <p:nvPr/>
        </p:nvSpPr>
        <p:spPr>
          <a:xfrm>
            <a:off x="5843016" y="4471416"/>
            <a:ext cx="557784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171450" indent="-171450">
              <a:buClr>
                <a:srgbClr val="E27041"/>
              </a:buClr>
              <a:buFont typeface="Arial"/>
              <a:buChar char="•"/>
            </a:pPr>
            <a:r>
              <a:rPr lang="ko-KR" altLang="en-US" sz="1200" spc="-70" dirty="0">
                <a:latin typeface="프리젠테이션 6 SemiBold" pitchFamily="2" charset="-127"/>
                <a:ea typeface="프리젠테이션 6 SemiBold" pitchFamily="2" charset="-127"/>
                <a:cs typeface="프리젠테이션 6 SemiBold"/>
              </a:rPr>
              <a:t>홀딩스의 인수 초점이 미디어 규모 확장에서 CX·데이터 실행 역량 확보로 이동, 소형 볼트온 딜 빈도 증가 </a:t>
            </a:r>
            <a:r>
              <a:rPr lang="ko-KR" altLang="en-US" sz="720" spc="-70" baseline="3000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[2,3]</a:t>
            </a:r>
          </a:p>
          <a:p>
            <a:pPr marL="171450" indent="-171450">
              <a:buClr>
                <a:srgbClr val="E27041"/>
              </a:buClr>
              <a:buFont typeface="Arial"/>
              <a:buChar char="•"/>
            </a:pPr>
            <a:r>
              <a:rPr lang="ko-KR" altLang="en-US" sz="1200" spc="-70" dirty="0">
                <a:latin typeface="프리젠테이션 6 SemiBold" pitchFamily="2" charset="-127"/>
                <a:ea typeface="프리젠테이션 6 SemiBold" pitchFamily="2" charset="-127"/>
                <a:cs typeface="프리젠테이션 6 SemiBold"/>
              </a:rPr>
              <a:t>20명 부티크도 핵심 광고주 1곳이면 인수 가치가 성립 </a:t>
            </a:r>
            <a:r>
              <a:rPr lang="ko-KR" altLang="en-US" sz="720" spc="-70" baseline="3000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[1]</a:t>
            </a:r>
          </a:p>
          <a:p>
            <a:pPr marL="171450" indent="-171450">
              <a:buClr>
                <a:srgbClr val="E27041"/>
              </a:buClr>
              <a:buFont typeface="Arial"/>
              <a:buChar char="•"/>
            </a:pPr>
            <a:r>
              <a:rPr lang="ko-KR" altLang="en-US" sz="1200" spc="-70" dirty="0">
                <a:latin typeface="프리젠테이션 6 SemiBold" pitchFamily="2" charset="-127"/>
                <a:ea typeface="프리젠테이션 6 SemiBold" pitchFamily="2" charset="-127"/>
                <a:cs typeface="프리젠테이션 6 SemiBold"/>
              </a:rPr>
              <a:t>아·태 CX 전문사는 아직 밸류에이션 여력이 있어 선제 확보가 유효 </a:t>
            </a:r>
            <a:r>
              <a:rPr lang="ko-KR" altLang="en-US" sz="720" spc="-70" baseline="3000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[3]</a:t>
            </a:r>
          </a:p>
          <a:p>
            <a:pPr marL="171450" indent="-171450">
              <a:buClr>
                <a:srgbClr val="E27041"/>
              </a:buClr>
              <a:buFont typeface="Arial"/>
              <a:buChar char="•"/>
            </a:pPr>
            <a:r>
              <a:rPr lang="ko-KR" altLang="en-US" sz="1200" spc="-70" dirty="0">
                <a:latin typeface="프리젠테이션 6 SemiBold" pitchFamily="2" charset="-127"/>
                <a:ea typeface="프리젠테이션 6 SemiBold" pitchFamily="2" charset="-127"/>
                <a:cs typeface="프리젠테이션 6 SemiBold"/>
              </a:rPr>
              <a:t>인수 후 리더십 잔류 여부가 광고주 이관 성패의 최대 변수 </a:t>
            </a:r>
            <a:r>
              <a:rPr lang="ko-KR" altLang="en-US" sz="720" spc="-70" baseline="3000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[2]</a:t>
            </a:r>
          </a:p>
        </p:txBody>
      </p:sp>
      <p:sp>
        <p:nvSpPr>
          <p:cNvPr id="126" name="R126"/>
          <p:cNvSpPr/>
          <p:nvPr/>
        </p:nvSpPr>
        <p:spPr>
          <a:xfrm>
            <a:off x="612648" y="6062472"/>
            <a:ext cx="109728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TB127"/>
          <p:cNvSpPr txBox="1"/>
          <p:nvPr/>
        </p:nvSpPr>
        <p:spPr>
          <a:xfrm>
            <a:off x="612648" y="6144768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ko-KR" altLang="en-US" sz="1000" spc="-70" dirty="0">
                <a:solidFill>
                  <a:srgbClr val="E27041"/>
                </a:solidFill>
                <a:latin typeface="프리젠테이션 6 SemiBold" pitchFamily="2" charset="-127"/>
                <a:ea typeface="프리젠테이션 6 SemiBold" pitchFamily="2" charset="-127"/>
                <a:cs typeface="프리젠테이션 6 SemiBold"/>
              </a:rPr>
              <a:t>※ 출처  </a:t>
            </a:r>
            <a:r>
              <a:rPr lang="ko-KR" altLang="en-US" sz="1000" spc="-7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[1] </a:t>
            </a:r>
            <a:r>
              <a:rPr lang="ko-KR" altLang="en-US" sz="1000" spc="-70" dirty="0">
                <a:solidFill>
                  <a:srgbClr val="595959"/>
                </a:solidFill>
                <a:latin typeface="프리젠테이션 3 Light" pitchFamily="2" charset="-127"/>
                <a:ea typeface="프리젠테이션 3 Light" pitchFamily="2" charset="-127"/>
                <a:cs typeface="프리젠테이션 3 Light"/>
                <a:hlinkClick xmlns:r="http://schemas.openxmlformats.org/officeDocument/2006/relationships" r:id="rIdL1"/>
              </a:rPr>
              <a:t>Ad Age, Omnicom acquires CX agency CX Lavender, ('26.06.11)</a:t>
            </a:r>
            <a:r>
              <a:rPr lang="ko-KR" altLang="en-US" sz="1000" spc="-70" dirty="0">
                <a:solidFill>
                  <a:srgbClr val="595959"/>
                </a:solidFill>
                <a:latin typeface="프리젠테이션 3 Light" pitchFamily="2" charset="-127"/>
                <a:ea typeface="프리젠테이션 3 Light" pitchFamily="2" charset="-127"/>
                <a:cs typeface="프리젠테이션 3 Light"/>
              </a:rPr>
              <a:t>   </a:t>
            </a:r>
            <a:r>
              <a:rPr lang="ko-KR" altLang="en-US" sz="1000" spc="-7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[2] </a:t>
            </a:r>
            <a:r>
              <a:rPr lang="ko-KR" altLang="en-US" sz="1000" spc="-70" dirty="0">
                <a:solidFill>
                  <a:srgbClr val="595959"/>
                </a:solidFill>
                <a:latin typeface="프리젠테이션 3 Light" pitchFamily="2" charset="-127"/>
                <a:ea typeface="프리젠테이션 3 Light" pitchFamily="2" charset="-127"/>
                <a:cs typeface="프리젠테이션 3 Light"/>
                <a:hlinkClick xmlns:r="http://schemas.openxmlformats.org/officeDocument/2006/relationships" r:id="rIdL2"/>
              </a:rPr>
              <a:t>Campaign, CX Lavender joins Omnicom Oceania, ('26.06.12)</a:t>
            </a:r>
            <a:r>
              <a:rPr lang="ko-KR" altLang="en-US" sz="1000" spc="-70" dirty="0">
                <a:solidFill>
                  <a:srgbClr val="595959"/>
                </a:solidFill>
                <a:latin typeface="프리젠테이션 3 Light" pitchFamily="2" charset="-127"/>
                <a:ea typeface="프리젠테이션 3 Light" pitchFamily="2" charset="-127"/>
                <a:cs typeface="프리젠테이션 3 Light"/>
              </a:rPr>
              <a:t>   </a:t>
            </a:r>
            <a:r>
              <a:rPr lang="ko-KR" altLang="en-US" sz="1000" spc="-70" dirty="0">
                <a:solidFill>
                  <a:srgbClr val="E27041"/>
                </a:solidFill>
                <a:latin typeface="프리젠테이션 7 Bold" pitchFamily="2" charset="-127"/>
                <a:ea typeface="프리젠테이션 7 Bold" pitchFamily="2" charset="-127"/>
                <a:cs typeface="프리젠테이션 7 Bold"/>
              </a:rPr>
              <a:t>[3] </a:t>
            </a:r>
            <a:r>
              <a:rPr lang="ko-KR" altLang="en-US" sz="1000" spc="-70" dirty="0">
                <a:solidFill>
                  <a:srgbClr val="595959"/>
                </a:solidFill>
                <a:latin typeface="프리젠테이션 3 Light" pitchFamily="2" charset="-127"/>
                <a:ea typeface="프리젠테이션 3 Light" pitchFamily="2" charset="-127"/>
                <a:cs typeface="프리젠테이션 3 Light"/>
                <a:hlinkClick xmlns:r="http://schemas.openxmlformats.org/officeDocument/2006/relationships" r:id="rIdL3"/>
              </a:rPr>
              <a:t>Mumbrella, What the deal means for the local market, ('26.06.13)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&amp;A Report">
  <a:themeElements>
    <a:clrScheme name="M&amp;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704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&amp;A">
      <a:majorFont>
        <a:latin typeface="프리젠테이션 8 ExtraBold"/>
        <a:ea typeface="프리젠테이션 8 ExtraBold"/>
        <a:cs typeface=""/>
      </a:majorFont>
      <a:minorFont>
        <a:latin typeface="프리젠테이션 5 Medium"/>
        <a:ea typeface="프리젠테이션 5 Medium"/>
        <a:cs typeface=""/>
      </a:minorFont>
    </a:fontScheme>
    <a:fmtScheme name="M&amp;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인수 사례 분석 Omnicom – CX Lavender</dc:title>
  <dc:description>[1] https://www.adage.com/  [2] https://www.campaignlive.com/  [3] https://www.mumbrella.com.au/</dc:description>
  <dcterms:created xsi:type="dcterms:W3CDTF">2026-08-28T06:25:06Z</dcterms:created>
  <dcterms:modified xsi:type="dcterms:W3CDTF">2026-08-28T06:25:06Z</dcterms:modified>
</cp:coreProperties>
</file>